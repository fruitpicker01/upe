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02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ЦКМ — цифровой клиентский менеджер ММБ. AI-агент для повторяемых клиентских коммуникаций. Сейчас фаза PoC/MVP — не автономный банк и не универсальный робот, а управляемый execution-слой.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Позиционирование: не автономный банк, не универсальный робот. Управляемый execution-слой для конкретных коммуникационных сценариев. Соединяет голос, чат, CRM-задачи, клиентский контекст.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Ручная коммуникация КМ плохо масштабируется. Контакты требуют скорости, регулярности, контроля качества. Ограничения: время менеджеров, качество данных, дисциплина follow-up, стоимость контакта.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Масштабируемый контакт без роста нагрузки на КМ. Единый контролируемый сценарий. Безопасное использование контекста. Быстрый возврат результата в CRM/МИО/Фокус. Основа для измерения качества. Возможность расширять сценарии.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ЦКМ на границе трёх контуров: клиентская коммуникация, банковские процессы, AI-логика. Граница: Co-pilot помогает менеджеру внутри процесса, ЦКМ — client-facing сущность.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стартовую точку: исходящий B2B-звонок по зарплатному проекту.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Стартовый сценарий — исходящий B2B-звонок по зарплатному проекту. Позвонить клиенту, объяснить ценность, обработать вопросы, предложить следующий шаг, вернуть код результата.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семейств сценариев с текущим статусом. Главный — исходящий B2B-звонок. Близкий — консьерж. Сервисные — отдельное направление. Перехват чата, модуль продаж, входящий поток — перспектива, контракты открыты.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устройство MVP: минимальная связка, поток, три агента, runtime, персонализация.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3 квартала — не все агенты проекта, а минимальная связка. Что должен доказать — 6 пунктов. Что НЕ входит в обязательный минимум: полная Sales Operations, полный SberScan, все продуктовые сценарии, авто-оформление, замена SkillFlow.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Упрощённый end-to-end: задача на контакт → выбор сценария → персонализация → голосовой диалог → классификация результата → возврат в CRM/МИО. Полная цепочка SBC→CRM→МИО→IVR→оркестратор детализируется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Архитектурный минимум: оркестратор (точка входа, управление сценарием), агент персонализации (безопасный контекст), агент итогов (транскрибация → структурированный результат). У каждого есть открытые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SkillFlow — сейчас интерфейс настройки сценария, prompt, tools, интеграций (не целевая архитектура). GigaVoice — голосовой диалог (ASR/TTS/VAD). GigaChat — LLM-слой. Если SkillFlow заменим — нужно воспроизвести контракт сборки данных, prompt и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Персонализация — релевантность без нарушения доверия, а не «произнести всё, что банк знает». Источники: история, комментарии КМ, саммари звонка, состояние продукта, отрасль. Правила: факты важнее ярлыков; не озвучивать внутренние оценки; при жалобе продажа подавляется; просьба оператора → перевод.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качество, риски и дальнейшие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Недостаточно проверить, что prompt валиден. Подход: golden set реальных диалогов, synthetic pipeline, человеческая валидация, продуктовые вопросы, out-of-knowledge и галлюцинации, скорость генерации vs длина prompt. Ключ: отделять prompt-side дефекты от GigaVoice/VAD.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группы рисков: клиентский опыт (продажа при жалобе, игнор просьбы оператора, неестественный голос), данные (пустые комментарии, устаревшие витрины, узкий golden set), поставка (не утверждён API, открытые tool-контракты, SkillFlow временный), качество AI (нарушение этапов, выдуманные условия, judge расходится с человеком).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горизонта. Видение: узкие сценарии с заделом на расширение, минимум из трёх агентов, SkillFlow не единственная опора. Ближайший фокус: golden set, продуктовые вопросы, отделить voice от prompt, консьерж, декомпозиция Q3 в 12-15 задач, ресурсные оценки. После MVP: эквайринг/кредитование, сервис, входящий поток, зрелые tools, альтернатива SkillFlow.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Вопросы для руководящей дискуссии: что считать достаточным MVP к концу Q3; какие сценарии в обязательном scope; какие интеграции доступны; какой API оркестратора; где версионировать prompt-блоки и коды; кто владеет финансовой методикой эффекта.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Короткий pitch: ЦКМ — управляемый AI-агент для повторяемых клиентских коммуникаций ММБ. Начинаем с исходящего B2B-звонка по зарплатному проекту, строим с заделом на консьерж, сервис, входящий поток и другие продукты.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876300"/>
            <a:ext cx="438150" cy="438150"/>
          </a:xfrm>
          <a:prstGeom prst="roundRect">
            <a:avLst>
              <a:gd name="adj" fmla="val 28261"/>
            </a:avLst>
          </a:prstGeom>
          <a:gradFill rotWithShape="1">
            <a:gsLst>
              <a:gs pos="0">
                <a:srgbClr val="0A9DFF">
                  <a:alpha val="100000"/>
                </a:srgbClr>
              </a:gs>
              <a:gs pos="45000">
                <a:srgbClr val="00B6A4">
                  <a:alpha val="100000"/>
                </a:srgbClr>
              </a:gs>
              <a:gs pos="100000">
                <a:srgbClr val="8FD400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733550" y="969645"/>
            <a:ext cx="59674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ЦКМ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143000" y="2150745"/>
            <a:ext cx="144589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47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КЛИЕНТСКИЙ МЕНЕДЖЕР · ММБ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143000" y="2718435"/>
            <a:ext cx="13538835" cy="3695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kern="0" spc="-1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 для клиентских коммуникаций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1143000" y="6776085"/>
            <a:ext cx="9614535" cy="1398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Управляемый execution-слой: голос, чат, CRM-задачи и клиентский контекст в одном проверенном сценарии — в помощь клиентскому менеджеру.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143000" y="9284970"/>
            <a:ext cx="66088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брифинг · фаза PoC / MVP · срез на 17.06.2026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ЦКМ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4716125" cy="188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ЦКМ берёт на себя </a:t>
            </a:r>
            <a:r>
              <a:rPr lang="en-US" sz="4500" b="1" kern="0" spc="-67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повторяемые клиентские коммуникации </a:t>
            </a: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работает по проверенным сценариям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7602855"/>
            <a:ext cx="5118021" cy="1941195"/>
          </a:xfrm>
          <a:prstGeom prst="roundRect">
            <a:avLst>
              <a:gd name="adj" fmla="val 10795"/>
            </a:avLst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7964805"/>
            <a:ext cx="487544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Соединяет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5900" y="8372475"/>
            <a:ext cx="4565187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Голос, чат, CRM-задачи и клиентский контекст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84871" y="7198043"/>
            <a:ext cx="5118140" cy="2346008"/>
          </a:xfrm>
          <a:prstGeom prst="roundRect">
            <a:avLst>
              <a:gd name="adj" fmla="val 8932"/>
            </a:avLst>
          </a:prstGeom>
          <a:solidFill>
            <a:srgbClr val="F1F7F8"/>
          </a:solidFill>
          <a:ln/>
        </p:spPr>
      </p:sp>
      <p:sp>
        <p:nvSpPr>
          <p:cNvPr id="8" name="Text 6"/>
          <p:cNvSpPr/>
          <p:nvPr/>
        </p:nvSpPr>
        <p:spPr>
          <a:xfrm>
            <a:off x="6927771" y="7559993"/>
            <a:ext cx="48755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27771" y="7967662"/>
            <a:ext cx="4565310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Клиентскому менеджеру в ограниченных коммуникациях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26860" y="7602855"/>
            <a:ext cx="5118140" cy="1941195"/>
          </a:xfrm>
          <a:prstGeom prst="roundRect">
            <a:avLst>
              <a:gd name="adj" fmla="val 10795"/>
            </a:avLst>
          </a:prstGeom>
          <a:gradFill rotWithShape="1">
            <a:gsLst>
              <a:gs pos="0">
                <a:srgbClr val="00B6A4">
                  <a:alpha val="100000"/>
                </a:srgbClr>
              </a:gs>
              <a:gs pos="100000">
                <a:srgbClr val="0A9DF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2369760" y="7964805"/>
            <a:ext cx="48755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является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69760" y="8372475"/>
            <a:ext cx="456531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Автономным банком или универсальным роботом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НУЖНО БИЗНЕСУ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55067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коммуникация КМ плохо масштабируется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232660"/>
            <a:ext cx="12557760" cy="1398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клиентских менеджеров много повторяемых контактов — продажи, подтверждения встреч, follow-up, сервисные уведомления, ответы на типовые вопросы.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8061960"/>
            <a:ext cx="518976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8823960"/>
            <a:ext cx="485951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менеджеров — жёсткое ограничение масштаба контакта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18171" y="4202430"/>
            <a:ext cx="9525" cy="5341620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8" name="Text 6"/>
          <p:cNvSpPr/>
          <p:nvPr/>
        </p:nvSpPr>
        <p:spPr>
          <a:xfrm>
            <a:off x="6784896" y="8061960"/>
            <a:ext cx="518989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784896" y="8823960"/>
            <a:ext cx="485963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и дисциплина follow-up непостоянны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960185" y="4202430"/>
            <a:ext cx="9525" cy="5341620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1" name="Text 9"/>
          <p:cNvSpPr/>
          <p:nvPr/>
        </p:nvSpPr>
        <p:spPr>
          <a:xfrm>
            <a:off x="12426910" y="8061960"/>
            <a:ext cx="518989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A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426910" y="8823960"/>
            <a:ext cx="485963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каждого контакта растёт пропорционально нагрузке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ЦКМ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46685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результатов для бизнеса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80310"/>
            <a:ext cx="5168861" cy="3408045"/>
          </a:xfrm>
          <a:prstGeom prst="roundRect">
            <a:avLst>
              <a:gd name="adj" fmla="val 5590"/>
            </a:avLst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1466850" y="2804160"/>
            <a:ext cx="4973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6850" y="3196590"/>
            <a:ext cx="4656795" cy="109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Масштабируемый контакт без пропорционального роста нагрузки на КМ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59511" y="2480310"/>
            <a:ext cx="5168861" cy="3408045"/>
          </a:xfrm>
          <a:prstGeom prst="roundRect">
            <a:avLst>
              <a:gd name="adj" fmla="val 5590"/>
            </a:avLst>
          </a:prstGeom>
          <a:solidFill>
            <a:srgbClr val="F1F7F8"/>
          </a:solidFill>
          <a:ln/>
        </p:spPr>
      </p:sp>
      <p:sp>
        <p:nvSpPr>
          <p:cNvPr id="8" name="Text 6"/>
          <p:cNvSpPr/>
          <p:nvPr/>
        </p:nvSpPr>
        <p:spPr>
          <a:xfrm>
            <a:off x="6883361" y="2804160"/>
            <a:ext cx="4973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83361" y="3196590"/>
            <a:ext cx="4656795" cy="109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контролируемый сценарий вместо произвольных формулировок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976021" y="2480310"/>
            <a:ext cx="5168861" cy="3408045"/>
          </a:xfrm>
          <a:prstGeom prst="roundRect">
            <a:avLst>
              <a:gd name="adj" fmla="val 5590"/>
            </a:avLst>
          </a:prstGeom>
          <a:solidFill>
            <a:srgbClr val="F1F7F8"/>
          </a:solidFill>
          <a:ln/>
        </p:spPr>
      </p:sp>
      <p:sp>
        <p:nvSpPr>
          <p:cNvPr id="11" name="Text 9"/>
          <p:cNvSpPr/>
          <p:nvPr/>
        </p:nvSpPr>
        <p:spPr>
          <a:xfrm>
            <a:off x="12299871" y="2804160"/>
            <a:ext cx="4973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99871" y="3196590"/>
            <a:ext cx="4656795" cy="109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Клиентский контекст без небезопасного раскрытия внутренних признаков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6005"/>
            <a:ext cx="5168861" cy="3408045"/>
          </a:xfrm>
          <a:prstGeom prst="roundRect">
            <a:avLst>
              <a:gd name="adj" fmla="val 5590"/>
            </a:avLst>
          </a:prstGeom>
          <a:solidFill>
            <a:srgbClr val="F1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1466850" y="6459855"/>
            <a:ext cx="4973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6850" y="6852285"/>
            <a:ext cx="4656795" cy="741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возврат результата в CRM / МИО / Фокус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559511" y="6136005"/>
            <a:ext cx="5168861" cy="3408045"/>
          </a:xfrm>
          <a:prstGeom prst="roundRect">
            <a:avLst>
              <a:gd name="adj" fmla="val 5590"/>
            </a:avLst>
          </a:prstGeom>
          <a:solidFill>
            <a:srgbClr val="F1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83361" y="6459855"/>
            <a:ext cx="4973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83361" y="6852285"/>
            <a:ext cx="4656795" cy="109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для измерения качества диалогов, согласий, отказов и переносов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976021" y="6136005"/>
            <a:ext cx="5168861" cy="3408045"/>
          </a:xfrm>
          <a:prstGeom prst="roundRect">
            <a:avLst>
              <a:gd name="adj" fmla="val 5590"/>
            </a:avLst>
          </a:prstGeom>
          <a:gradFill rotWithShape="1">
            <a:gsLst>
              <a:gs pos="0">
                <a:srgbClr val="2FB24C">
                  <a:alpha val="100000"/>
                </a:srgbClr>
              </a:gs>
              <a:gs pos="100000">
                <a:srgbClr val="8FD40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12299871" y="6459855"/>
            <a:ext cx="4973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3B1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99871" y="6852285"/>
            <a:ext cx="4656795" cy="741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063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Расширение от одного продукта к портфелю продаж и сервиса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ПРОДУКТОВАЯ РАМКА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46685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ЦКМ живёт на границе трёх контуров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61260"/>
            <a:ext cx="5168861" cy="2731770"/>
          </a:xfrm>
          <a:prstGeom prst="roundRect">
            <a:avLst>
              <a:gd name="adj" fmla="val 7671"/>
            </a:avLst>
          </a:prstGeom>
          <a:ln w="7620">
            <a:solidFill>
              <a:srgbClr val="DC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3520" y="281178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A9DFF"/>
          </a:solidFill>
          <a:ln/>
        </p:spPr>
      </p:sp>
      <p:sp>
        <p:nvSpPr>
          <p:cNvPr id="6" name="Text 4"/>
          <p:cNvSpPr/>
          <p:nvPr/>
        </p:nvSpPr>
        <p:spPr>
          <a:xfrm>
            <a:off x="1493520" y="3402330"/>
            <a:ext cx="460185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Клиентская коммуникация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93520" y="4469130"/>
            <a:ext cx="491460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Голос, чат, SMS и ссылки, follow-up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59511" y="2461260"/>
            <a:ext cx="5168979" cy="2731770"/>
          </a:xfrm>
          <a:prstGeom prst="roundRect">
            <a:avLst>
              <a:gd name="adj" fmla="val 7671"/>
            </a:avLst>
          </a:prstGeom>
          <a:ln w="7620">
            <a:solidFill>
              <a:srgbClr val="DC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10031" y="281178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B6A4"/>
          </a:solidFill>
          <a:ln/>
        </p:spPr>
      </p:sp>
      <p:sp>
        <p:nvSpPr>
          <p:cNvPr id="10" name="Text 8"/>
          <p:cNvSpPr/>
          <p:nvPr/>
        </p:nvSpPr>
        <p:spPr>
          <a:xfrm>
            <a:off x="6910031" y="3402330"/>
            <a:ext cx="49147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Банковские процессы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10031" y="4011930"/>
            <a:ext cx="4601978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CRM, МИО, IVR, Фокус, задачи КМ, коды завершения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976140" y="2461260"/>
            <a:ext cx="5168861" cy="2731770"/>
          </a:xfrm>
          <a:prstGeom prst="roundRect">
            <a:avLst>
              <a:gd name="adj" fmla="val 7671"/>
            </a:avLst>
          </a:prstGeom>
          <a:ln w="7620">
            <a:solidFill>
              <a:srgbClr val="DC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26660" y="281178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2FB24C"/>
          </a:solidFill>
          <a:ln/>
        </p:spPr>
      </p:sp>
      <p:sp>
        <p:nvSpPr>
          <p:cNvPr id="14" name="Text 12"/>
          <p:cNvSpPr/>
          <p:nvPr/>
        </p:nvSpPr>
        <p:spPr>
          <a:xfrm>
            <a:off x="12326660" y="3402330"/>
            <a:ext cx="49146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AI-логика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326660" y="4011930"/>
            <a:ext cx="460185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сценария, персонализация, обработка диалога, классификация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5574030"/>
            <a:ext cx="16002000" cy="1291590"/>
          </a:xfrm>
          <a:prstGeom prst="roundRect">
            <a:avLst>
              <a:gd name="adj" fmla="val 13274"/>
            </a:avLst>
          </a:prstGeom>
          <a:solidFill>
            <a:srgbClr val="004566"/>
          </a:solidFill>
          <a:ln/>
        </p:spPr>
      </p:sp>
      <p:sp>
        <p:nvSpPr>
          <p:cNvPr id="17" name="Text 15"/>
          <p:cNvSpPr/>
          <p:nvPr/>
        </p:nvSpPr>
        <p:spPr>
          <a:xfrm>
            <a:off x="1504950" y="6082665"/>
            <a:ext cx="2594098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ВАЖНАЯ ГРАНИЦА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29921" y="5859780"/>
            <a:ext cx="1303272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Co-pilot помогает менеджеру </a:t>
            </a:r>
            <a:r>
              <a:rPr lang="en-US" sz="2100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</a:t>
            </a:r>
            <a:r>
              <a:rPr lang="en-US" sz="21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рабочего процесса. ЦКМ — </a:t>
            </a:r>
            <a:r>
              <a:rPr lang="en-US" sz="2100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</a:t>
            </a:r>
            <a:r>
              <a:rPr lang="en-US" sz="21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сущность: ведёт коммуникацию с клиентом под контролем КМ.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787497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225" dirty="0">
                <a:solidFill>
                  <a:srgbClr val="7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03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143000" y="4336137"/>
            <a:ext cx="13620750" cy="97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чего начинаем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143000" y="5592604"/>
            <a:ext cx="961453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узкий, проверяемый сценарий — и продуктовая рамка, рассчитанная на расширение.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СТАРТОВЫЙ СЦЕНАРИЙ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57162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Исходящий B2B-звонок по </a:t>
            </a:r>
            <a:r>
              <a:rPr lang="en-US" sz="4500" b="1" kern="0" spc="-67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зарплатному проекту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5225415"/>
            <a:ext cx="2667000" cy="1276350"/>
          </a:xfrm>
          <a:prstGeom prst="roundRect">
            <a:avLst>
              <a:gd name="adj" fmla="val 13433"/>
            </a:avLst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5530215"/>
            <a:ext cx="2247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Позвонить клиенту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81450" y="5680710"/>
            <a:ext cx="4000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4476750" y="5225415"/>
            <a:ext cx="2667000" cy="1276350"/>
          </a:xfrm>
          <a:prstGeom prst="roundRect">
            <a:avLst>
              <a:gd name="adj" fmla="val 13433"/>
            </a:avLst>
          </a:prstGeom>
          <a:solidFill>
            <a:srgbClr val="F1F7F8"/>
          </a:solidFill>
          <a:ln/>
        </p:spPr>
      </p:sp>
      <p:sp>
        <p:nvSpPr>
          <p:cNvPr id="8" name="Text 6"/>
          <p:cNvSpPr/>
          <p:nvPr/>
        </p:nvSpPr>
        <p:spPr>
          <a:xfrm>
            <a:off x="4686300" y="5530215"/>
            <a:ext cx="2247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Объяснить ценность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0" y="5680710"/>
            <a:ext cx="4000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7810500" y="5225415"/>
            <a:ext cx="2667000" cy="1276350"/>
          </a:xfrm>
          <a:prstGeom prst="roundRect">
            <a:avLst>
              <a:gd name="adj" fmla="val 13433"/>
            </a:avLst>
          </a:prstGeom>
          <a:solidFill>
            <a:srgbClr val="F1F7F8"/>
          </a:solidFill>
          <a:ln/>
        </p:spPr>
      </p:sp>
      <p:sp>
        <p:nvSpPr>
          <p:cNvPr id="11" name="Text 9"/>
          <p:cNvSpPr/>
          <p:nvPr/>
        </p:nvSpPr>
        <p:spPr>
          <a:xfrm>
            <a:off x="8020050" y="5530215"/>
            <a:ext cx="2247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Обработать вопросы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648950" y="5680710"/>
            <a:ext cx="4000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144250" y="5225415"/>
            <a:ext cx="2667000" cy="1276350"/>
          </a:xfrm>
          <a:prstGeom prst="roundRect">
            <a:avLst>
              <a:gd name="adj" fmla="val 13433"/>
            </a:avLst>
          </a:prstGeom>
          <a:solidFill>
            <a:srgbClr val="F1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11353800" y="5530215"/>
            <a:ext cx="2247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Предложить шаг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982700" y="5680710"/>
            <a:ext cx="4000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478000" y="5225415"/>
            <a:ext cx="2667000" cy="1276350"/>
          </a:xfrm>
          <a:prstGeom prst="roundRect">
            <a:avLst>
              <a:gd name="adj" fmla="val 13433"/>
            </a:avLst>
          </a:prstGeom>
          <a:gradFill rotWithShape="1">
            <a:gsLst>
              <a:gs pos="0">
                <a:srgbClr val="00B6A4">
                  <a:alpha val="100000"/>
                </a:srgbClr>
              </a:gs>
              <a:gs pos="100000">
                <a:srgbClr val="0A9DF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14687550" y="5530215"/>
            <a:ext cx="2247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Вернуть код результата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9284970"/>
            <a:ext cx="17602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MVP / PoC-трек проекта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СЕМЕЙСТВА СЦЕНАРИЕВ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одного звонка к портфелю коммуникаций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30830"/>
            <a:ext cx="16002000" cy="15240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04110"/>
            <a:ext cx="58674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СЕМЕЙСТВО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77000" y="2404110"/>
            <a:ext cx="7124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34900" y="2404110"/>
            <a:ext cx="46101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kern="0" spc="144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3795355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41000"/>
            <a:ext cx="5867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Исходящий B2B-звонок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77000" y="3271480"/>
            <a:ext cx="7124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Зарплатный проект: ценность, вопросы, следующий шаг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570160" y="3216235"/>
            <a:ext cx="1574840" cy="369570"/>
          </a:xfrm>
          <a:prstGeom prst="roundRect">
            <a:avLst>
              <a:gd name="adj" fmla="val 50000"/>
            </a:avLst>
          </a:prstGeom>
          <a:solidFill>
            <a:srgbClr val="2FB24C"/>
          </a:solidFill>
          <a:ln/>
        </p:spPr>
      </p:sp>
      <p:sp>
        <p:nvSpPr>
          <p:cNvPr id="12" name="Text 10"/>
          <p:cNvSpPr/>
          <p:nvPr/>
        </p:nvSpPr>
        <p:spPr>
          <a:xfrm>
            <a:off x="15646360" y="3282910"/>
            <a:ext cx="1346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MVP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4912995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58640"/>
            <a:ext cx="5867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Консьерж / секретарь КМ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77000" y="4389120"/>
            <a:ext cx="7124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встречу, собрать вопросы, вернуть в Фокус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437525" y="4333875"/>
            <a:ext cx="1707475" cy="369570"/>
          </a:xfrm>
          <a:prstGeom prst="roundRect">
            <a:avLst>
              <a:gd name="adj" fmla="val 50000"/>
            </a:avLst>
          </a:prstGeom>
          <a:solidFill>
            <a:srgbClr val="00B6A4"/>
          </a:solidFill>
          <a:ln/>
        </p:spPr>
      </p:sp>
      <p:sp>
        <p:nvSpPr>
          <p:cNvPr id="17" name="Text 15"/>
          <p:cNvSpPr/>
          <p:nvPr/>
        </p:nvSpPr>
        <p:spPr>
          <a:xfrm>
            <a:off x="15513725" y="4400550"/>
            <a:ext cx="147887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Близкий пилот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6030516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476161"/>
            <a:ext cx="5867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Сервисные исходящие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77000" y="5506641"/>
            <a:ext cx="7124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Предупредить об ограничении, SMS / ссылка, задача КМ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568613" y="5451396"/>
            <a:ext cx="1576388" cy="369570"/>
          </a:xfrm>
          <a:prstGeom prst="roundRect">
            <a:avLst>
              <a:gd name="adj" fmla="val 50000"/>
            </a:avLst>
          </a:prstGeom>
          <a:solidFill>
            <a:srgbClr val="00B6A4"/>
          </a:solidFill>
          <a:ln/>
        </p:spPr>
      </p:sp>
      <p:sp>
        <p:nvSpPr>
          <p:cNvPr id="22" name="Text 20"/>
          <p:cNvSpPr/>
          <p:nvPr/>
        </p:nvSpPr>
        <p:spPr>
          <a:xfrm>
            <a:off x="15644813" y="5518071"/>
            <a:ext cx="134778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43000" y="7148156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6593800"/>
            <a:ext cx="5867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Перехват чата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477000" y="6624281"/>
            <a:ext cx="7124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Подключить ЦКМ, когда КМ занят или недоступен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595640" y="6569036"/>
            <a:ext cx="1549360" cy="369570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/>
        </p:spPr>
      </p:sp>
      <p:sp>
        <p:nvSpPr>
          <p:cNvPr id="27" name="Text 25"/>
          <p:cNvSpPr/>
          <p:nvPr/>
        </p:nvSpPr>
        <p:spPr>
          <a:xfrm>
            <a:off x="15671840" y="6635711"/>
            <a:ext cx="1320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43000" y="8265795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7711440"/>
            <a:ext cx="5867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продаж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477000" y="7741920"/>
            <a:ext cx="7124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Эквайринг, кредитование — нужны DFD и tool-контракты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595640" y="7686675"/>
            <a:ext cx="1549360" cy="369570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/>
        </p:spPr>
      </p:sp>
      <p:sp>
        <p:nvSpPr>
          <p:cNvPr id="32" name="Text 30"/>
          <p:cNvSpPr/>
          <p:nvPr/>
        </p:nvSpPr>
        <p:spPr>
          <a:xfrm>
            <a:off x="15671840" y="7753350"/>
            <a:ext cx="1320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8828961"/>
            <a:ext cx="58674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Входящий поток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477000" y="8859441"/>
            <a:ext cx="7124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ЦКМ как tool внутри другой мультиагентной системы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224760" y="8804196"/>
            <a:ext cx="1920240" cy="369570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/>
        </p:spPr>
      </p:sp>
      <p:sp>
        <p:nvSpPr>
          <p:cNvPr id="36" name="Text 34"/>
          <p:cNvSpPr/>
          <p:nvPr/>
        </p:nvSpPr>
        <p:spPr>
          <a:xfrm>
            <a:off x="15300960" y="8870871"/>
            <a:ext cx="1691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открыт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787497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225" dirty="0">
                <a:solidFill>
                  <a:srgbClr val="7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03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143000" y="4336137"/>
            <a:ext cx="13620750" cy="97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MVP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143000" y="5592604"/>
            <a:ext cx="981075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обвязка исходящего звонка: поток, три агента и голосовой runtime.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ТРЕТЬЕГО КВАРТАЛА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57162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связка, а не «все агенты проекта»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461260"/>
            <a:ext cx="87756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должен доказать 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185160"/>
            <a:ext cx="27598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66850" y="3188970"/>
            <a:ext cx="526199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Принимает задачу на исходящий контакт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703320"/>
            <a:ext cx="27598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66850" y="3707130"/>
            <a:ext cx="721139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Оркестратор выбирает сценарий по входным атрибутам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221480"/>
            <a:ext cx="27598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66850" y="4225290"/>
            <a:ext cx="775993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Используется шаблонный или персонализированный prompt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4739640"/>
            <a:ext cx="27598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66850" y="4743450"/>
            <a:ext cx="5653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IVR / GigaVoice проводит диалог с клиентом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5257800"/>
            <a:ext cx="27598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66850" y="5261610"/>
            <a:ext cx="676365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Транскрибация классифицируется в код завершения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5775960"/>
            <a:ext cx="27598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66850" y="5779770"/>
            <a:ext cx="56068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возвращается в IVR / МИО / CRM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01902" y="2461260"/>
            <a:ext cx="9525" cy="7082790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8" name="Text 16"/>
          <p:cNvSpPr/>
          <p:nvPr/>
        </p:nvSpPr>
        <p:spPr>
          <a:xfrm>
            <a:off x="9892428" y="2461260"/>
            <a:ext cx="79778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входит в первый минимум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892428" y="3166110"/>
            <a:ext cx="2709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216278" y="3188970"/>
            <a:ext cx="46635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интеграция Sales Operations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92428" y="3684270"/>
            <a:ext cx="2709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216278" y="3707130"/>
            <a:ext cx="229933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SberScan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92428" y="4202430"/>
            <a:ext cx="2709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216278" y="4225290"/>
            <a:ext cx="34754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продуктовые сценарии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92428" y="4720590"/>
            <a:ext cx="2709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216278" y="4743450"/>
            <a:ext cx="598087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Авто-оформление продукта для всех клиентов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892428" y="5238750"/>
            <a:ext cx="2709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216278" y="5261610"/>
            <a:ext cx="383036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замена SkillFlow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892428" y="5756910"/>
            <a:ext cx="2709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216278" y="5779770"/>
            <a:ext cx="61692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Сложный «динамический prompt» без контракта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ПОТОК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задачи на контакт до результата в CRM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2005013" y="4724400"/>
            <a:ext cx="704850" cy="704850"/>
          </a:xfrm>
          <a:prstGeom prst="ellipse">
            <a:avLst/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1966913" y="4724400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A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81100" y="5600700"/>
            <a:ext cx="23526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на контакт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81100" y="6412230"/>
            <a:ext cx="23526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МИО формирует кампанию и лист обзвона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71875" y="5010150"/>
            <a:ext cx="361950" cy="191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719638" y="4724400"/>
            <a:ext cx="704850" cy="704850"/>
          </a:xfrm>
          <a:prstGeom prst="ellipse">
            <a:avLst/>
          </a:prstGeom>
          <a:solidFill>
            <a:srgbClr val="F1F7F8"/>
          </a:solidFill>
          <a:ln/>
        </p:spPr>
      </p:sp>
      <p:sp>
        <p:nvSpPr>
          <p:cNvPr id="10" name="Text 8"/>
          <p:cNvSpPr/>
          <p:nvPr/>
        </p:nvSpPr>
        <p:spPr>
          <a:xfrm>
            <a:off x="4681537" y="4724400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A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861387" y="5600700"/>
            <a:ext cx="24213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сценария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895725" y="6092190"/>
            <a:ext cx="23526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IVR и оркестратор по бизнес-атрибутам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86500" y="5010150"/>
            <a:ext cx="361950" cy="191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434263" y="4724400"/>
            <a:ext cx="704850" cy="704850"/>
          </a:xfrm>
          <a:prstGeom prst="ellipse">
            <a:avLst/>
          </a:prstGeom>
          <a:solidFill>
            <a:srgbClr val="F1F7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96163" y="4724400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548902" y="5600700"/>
            <a:ext cx="24755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10350" y="6092190"/>
            <a:ext cx="23526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Подготовленный или дефолтный prompt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01125" y="5010150"/>
            <a:ext cx="361950" cy="191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148888" y="4724400"/>
            <a:ext cx="704850" cy="704850"/>
          </a:xfrm>
          <a:prstGeom prst="ellipse">
            <a:avLst/>
          </a:prstGeom>
          <a:solidFill>
            <a:srgbClr val="F1F7F8"/>
          </a:solidFill>
          <a:ln/>
        </p:spPr>
      </p:sp>
      <p:sp>
        <p:nvSpPr>
          <p:cNvPr id="20" name="Text 18"/>
          <p:cNvSpPr/>
          <p:nvPr/>
        </p:nvSpPr>
        <p:spPr>
          <a:xfrm>
            <a:off x="10110788" y="4724400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324975" y="5600700"/>
            <a:ext cx="23526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Голосовой диалог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24975" y="6412230"/>
            <a:ext cx="23526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IVR / GigaVoice ведёт разговор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15750" y="5010150"/>
            <a:ext cx="361950" cy="191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863513" y="4724400"/>
            <a:ext cx="704850" cy="704850"/>
          </a:xfrm>
          <a:prstGeom prst="ellipse">
            <a:avLst/>
          </a:prstGeom>
          <a:solidFill>
            <a:srgbClr val="F1F7F8"/>
          </a:solidFill>
          <a:ln/>
        </p:spPr>
      </p:sp>
      <p:sp>
        <p:nvSpPr>
          <p:cNvPr id="25" name="Text 23"/>
          <p:cNvSpPr/>
          <p:nvPr/>
        </p:nvSpPr>
        <p:spPr>
          <a:xfrm>
            <a:off x="12825413" y="4724400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F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094983" y="5600700"/>
            <a:ext cx="224179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результата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039600" y="6092190"/>
            <a:ext cx="23526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итогов классифицирует исход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430375" y="5010150"/>
            <a:ext cx="361950" cy="191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5578137" y="4724400"/>
            <a:ext cx="704850" cy="704850"/>
          </a:xfrm>
          <a:prstGeom prst="ellipse">
            <a:avLst/>
          </a:prstGeom>
          <a:gradFill rotWithShape="1">
            <a:gsLst>
              <a:gs pos="0">
                <a:srgbClr val="0A9DFF">
                  <a:alpha val="100000"/>
                </a:srgbClr>
              </a:gs>
              <a:gs pos="45000">
                <a:srgbClr val="00B6A4">
                  <a:alpha val="100000"/>
                </a:srgbClr>
              </a:gs>
              <a:gs pos="100000">
                <a:srgbClr val="8FD400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30" name="Text 28"/>
          <p:cNvSpPr/>
          <p:nvPr/>
        </p:nvSpPr>
        <p:spPr>
          <a:xfrm>
            <a:off x="15540037" y="4724400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840379" y="5600700"/>
            <a:ext cx="21803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в CRM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4754225" y="6092190"/>
            <a:ext cx="23526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мапится в МИО и CRM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9284970"/>
            <a:ext cx="17602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BB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Упрощённая схема. Полная цепочка SBC → CRM → МИО → IVR → оркестратор детализируется отдельно.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СВЯЗКА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агента архитектурного минимума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23160"/>
            <a:ext cx="5156121" cy="7120890"/>
          </a:xfrm>
          <a:prstGeom prst="roundRect">
            <a:avLst>
              <a:gd name="adj" fmla="val 4434"/>
            </a:avLst>
          </a:prstGeom>
          <a:ln w="7620">
            <a:solidFill>
              <a:srgbClr val="DC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0620" y="2430780"/>
            <a:ext cx="5140881" cy="75248"/>
          </a:xfrm>
          <a:prstGeom prst="rect">
            <a:avLst/>
          </a:prstGeom>
          <a:solidFill>
            <a:srgbClr val="0A9DFF"/>
          </a:solidFill>
          <a:ln/>
        </p:spPr>
      </p:sp>
      <p:sp>
        <p:nvSpPr>
          <p:cNvPr id="6" name="Text 4"/>
          <p:cNvSpPr/>
          <p:nvPr/>
        </p:nvSpPr>
        <p:spPr>
          <a:xfrm>
            <a:off x="1474470" y="2867978"/>
            <a:ext cx="49424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Оркестратор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4470" y="3420428"/>
            <a:ext cx="494249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входа и управляющий слой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4470" y="3942397"/>
            <a:ext cx="4942499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запрос от IVR / МИО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4470" y="4377452"/>
            <a:ext cx="4627976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направление, модальность, сценарий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74470" y="5114211"/>
            <a:ext cx="4942499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Запросить персонализацию или fallback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4470" y="5549265"/>
            <a:ext cx="4942499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Вернуть код завершения и атрибуты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65821" y="2423160"/>
            <a:ext cx="5156240" cy="7120890"/>
          </a:xfrm>
          <a:prstGeom prst="roundRect">
            <a:avLst>
              <a:gd name="adj" fmla="val 4433"/>
            </a:avLst>
          </a:prstGeom>
          <a:ln w="7620">
            <a:solidFill>
              <a:srgbClr val="DC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3441" y="2430780"/>
            <a:ext cx="5141000" cy="75248"/>
          </a:xfrm>
          <a:prstGeom prst="rect">
            <a:avLst/>
          </a:prstGeom>
          <a:solidFill>
            <a:srgbClr val="00B6A4"/>
          </a:solidFill>
          <a:ln/>
        </p:spPr>
      </p:sp>
      <p:sp>
        <p:nvSpPr>
          <p:cNvPr id="14" name="Text 12"/>
          <p:cNvSpPr/>
          <p:nvPr/>
        </p:nvSpPr>
        <p:spPr>
          <a:xfrm>
            <a:off x="6897291" y="2867978"/>
            <a:ext cx="49426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97291" y="3420428"/>
            <a:ext cx="49426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Безопасный полезный контекст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97291" y="3942397"/>
            <a:ext cx="4628099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История, заметки КМ, состояние продукта, отрасль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97291" y="4679156"/>
            <a:ext cx="4628099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Шаблонный или персонализированный prompt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97291" y="5415915"/>
            <a:ext cx="4628099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внутренних id и небезопасных данных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97291" y="6152674"/>
            <a:ext cx="4628099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Fallback, если данных нет или сомнительны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988760" y="2423160"/>
            <a:ext cx="5156240" cy="7120890"/>
          </a:xfrm>
          <a:prstGeom prst="roundRect">
            <a:avLst>
              <a:gd name="adj" fmla="val 4433"/>
            </a:avLst>
          </a:prstGeom>
          <a:ln w="7620">
            <a:solidFill>
              <a:srgbClr val="DC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996381" y="2430780"/>
            <a:ext cx="5141000" cy="75248"/>
          </a:xfrm>
          <a:prstGeom prst="rect">
            <a:avLst/>
          </a:prstGeom>
          <a:solidFill>
            <a:srgbClr val="2FB24C"/>
          </a:solidFill>
          <a:ln/>
        </p:spPr>
      </p:sp>
      <p:sp>
        <p:nvSpPr>
          <p:cNvPr id="22" name="Text 20"/>
          <p:cNvSpPr/>
          <p:nvPr/>
        </p:nvSpPr>
        <p:spPr>
          <a:xfrm>
            <a:off x="12320231" y="2867978"/>
            <a:ext cx="49426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разговора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320231" y="3420428"/>
            <a:ext cx="49426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Транскрибация → результат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20231" y="3942397"/>
            <a:ext cx="4628099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Классифицировать исход по кодам завершения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20231" y="4679156"/>
            <a:ext cx="4628099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Выделить отказ, согласие, перенос, запрос SMS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20231" y="5415915"/>
            <a:ext cx="4942630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Отметить необходимость задачи КМ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20231" y="5850970"/>
            <a:ext cx="4942630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для маппинга в МИО / CRM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RUNTIME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чём ЦКМ работает сегодня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23160"/>
            <a:ext cx="5168861" cy="2356485"/>
          </a:xfrm>
          <a:prstGeom prst="roundRect">
            <a:avLst>
              <a:gd name="adj" fmla="val 8084"/>
            </a:avLst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766060"/>
            <a:ext cx="493136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85900" y="3356610"/>
            <a:ext cx="4617552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настройки сценария, prompt, tools и интеграционных данных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59511" y="2423160"/>
            <a:ext cx="5168979" cy="2356485"/>
          </a:xfrm>
          <a:prstGeom prst="roundRect">
            <a:avLst>
              <a:gd name="adj" fmla="val 8084"/>
            </a:avLst>
          </a:prstGeom>
          <a:solidFill>
            <a:srgbClr val="F1F7F8"/>
          </a:solidFill>
          <a:ln/>
        </p:spPr>
      </p:sp>
      <p:sp>
        <p:nvSpPr>
          <p:cNvPr id="8" name="Text 6"/>
          <p:cNvSpPr/>
          <p:nvPr/>
        </p:nvSpPr>
        <p:spPr>
          <a:xfrm>
            <a:off x="6902411" y="2766060"/>
            <a:ext cx="493149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GigaVoice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02411" y="3356610"/>
            <a:ext cx="461767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Голосовой диалог: связка ASR / TTS / VAD и передача контекста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976140" y="2423160"/>
            <a:ext cx="5168861" cy="2356485"/>
          </a:xfrm>
          <a:prstGeom prst="roundRect">
            <a:avLst>
              <a:gd name="adj" fmla="val 8084"/>
            </a:avLst>
          </a:prstGeom>
          <a:solidFill>
            <a:srgbClr val="F1F7F8"/>
          </a:solidFill>
          <a:ln/>
        </p:spPr>
      </p:sp>
      <p:sp>
        <p:nvSpPr>
          <p:cNvPr id="11" name="Text 9"/>
          <p:cNvSpPr/>
          <p:nvPr/>
        </p:nvSpPr>
        <p:spPr>
          <a:xfrm>
            <a:off x="12319040" y="2766060"/>
            <a:ext cx="493136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19040" y="3356610"/>
            <a:ext cx="461755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LLM-слой в сценариях и тестировании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160645"/>
            <a:ext cx="16002000" cy="1360170"/>
          </a:xfrm>
          <a:prstGeom prst="roundRect">
            <a:avLst>
              <a:gd name="adj" fmla="val 12605"/>
            </a:avLst>
          </a:prstGeom>
          <a:ln w="15240">
            <a:solidFill>
              <a:srgbClr val="2FB2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39240" y="5703570"/>
            <a:ext cx="3141678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ОГОВОРКА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2011" y="5480685"/>
            <a:ext cx="1244935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SkillFlow — текущий runtime, </a:t>
            </a:r>
            <a:r>
              <a:rPr lang="en-US" sz="21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целевая архитектура </a:t>
            </a: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При замене команде нужно воспроизвести контракт сборки данных, prompt и tools в своём контуре.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57162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Релевантность без нарушения доверия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423160"/>
            <a:ext cx="83767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контекста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3108960"/>
            <a:ext cx="3352443" cy="541020"/>
          </a:xfrm>
          <a:prstGeom prst="roundRect">
            <a:avLst>
              <a:gd name="adj" fmla="val 24648"/>
            </a:avLst>
          </a:prstGeom>
          <a:solidFill>
            <a:srgbClr val="F1F7F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42310"/>
            <a:ext cx="29958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взаимодействия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28793" y="3108960"/>
            <a:ext cx="2426613" cy="541020"/>
          </a:xfrm>
          <a:prstGeom prst="roundRect">
            <a:avLst>
              <a:gd name="adj" fmla="val 24648"/>
            </a:avLst>
          </a:prstGeom>
          <a:solidFill>
            <a:srgbClr val="F1F7F8"/>
          </a:solidFill>
          <a:ln/>
        </p:spPr>
      </p:sp>
      <p:sp>
        <p:nvSpPr>
          <p:cNvPr id="8" name="Text 6"/>
          <p:cNvSpPr/>
          <p:nvPr/>
        </p:nvSpPr>
        <p:spPr>
          <a:xfrm>
            <a:off x="4857393" y="3242310"/>
            <a:ext cx="20456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Комментарии КМ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783330"/>
            <a:ext cx="3709035" cy="541020"/>
          </a:xfrm>
          <a:prstGeom prst="roundRect">
            <a:avLst>
              <a:gd name="adj" fmla="val 24648"/>
            </a:avLst>
          </a:prstGeom>
          <a:solidFill>
            <a:srgbClr val="F1F7F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916680"/>
            <a:ext cx="33631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Саммари последнего звонка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85385" y="3783330"/>
            <a:ext cx="2783205" cy="541020"/>
          </a:xfrm>
          <a:prstGeom prst="roundRect">
            <a:avLst>
              <a:gd name="adj" fmla="val 24648"/>
            </a:avLst>
          </a:prstGeom>
          <a:solidFill>
            <a:srgbClr val="F1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5213985" y="3916680"/>
            <a:ext cx="240950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продукта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4457700"/>
            <a:ext cx="2383155" cy="541020"/>
          </a:xfrm>
          <a:prstGeom prst="roundRect">
            <a:avLst>
              <a:gd name="adj" fmla="val 24648"/>
            </a:avLst>
          </a:prstGeom>
          <a:solidFill>
            <a:srgbClr val="F1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591050"/>
            <a:ext cx="20021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Отрасль бизнеса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9505" y="4457700"/>
            <a:ext cx="4168616" cy="541020"/>
          </a:xfrm>
          <a:prstGeom prst="roundRect">
            <a:avLst>
              <a:gd name="adj" fmla="val 24648"/>
            </a:avLst>
          </a:prstGeom>
          <a:solidFill>
            <a:srgbClr val="F1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3888105" y="4591050"/>
            <a:ext cx="38364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Безопасные продуктовые факты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39238" y="2423160"/>
            <a:ext cx="9525" cy="7120890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8" name="Text 16"/>
          <p:cNvSpPr/>
          <p:nvPr/>
        </p:nvSpPr>
        <p:spPr>
          <a:xfrm>
            <a:off x="9529763" y="2423160"/>
            <a:ext cx="83767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29763" y="3108960"/>
            <a:ext cx="23729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15513" y="3131820"/>
            <a:ext cx="4506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 важнее внутренних ярлыков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9763" y="3627120"/>
            <a:ext cx="23729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15513" y="3649980"/>
            <a:ext cx="544251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озвучивать внутренние оценки клиента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29763" y="4145280"/>
            <a:ext cx="23729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815513" y="4168140"/>
            <a:ext cx="603459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жалобе продажный сценарий подавляется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529763" y="4663440"/>
            <a:ext cx="23729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15513" y="4686300"/>
            <a:ext cx="614447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Просьба оператора → перевод, а не убеждение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529763" y="5181600"/>
            <a:ext cx="23729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15513" y="5204460"/>
            <a:ext cx="5391007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Слабые данные → универсальный скрипт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787497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225" dirty="0">
                <a:solidFill>
                  <a:srgbClr val="7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03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143000" y="4336137"/>
            <a:ext cx="13620750" cy="97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Качество, риски, шаги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143000" y="5592604"/>
            <a:ext cx="981075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измеряем качество, чем управляем и что нужно решить дальше.</a:t>
            </a:r>
            <a:endParaRPr lang="en-US" sz="2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И КАЧЕСТВО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571625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диалог, а не валидность prompt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4654868"/>
            <a:ext cx="3506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88889" y="4616768"/>
            <a:ext cx="684560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set реальных диалогов и целевых исходов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72600" y="4654868"/>
            <a:ext cx="3506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18489" y="4616768"/>
            <a:ext cx="511158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Прогон агента через synthetic pipeline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5211128"/>
            <a:ext cx="3506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88889" y="5173028"/>
            <a:ext cx="69299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человеком или контрольной разметкой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72600" y="5211128"/>
            <a:ext cx="3506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18489" y="5173028"/>
            <a:ext cx="654503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Out-of-knowledge вопросы и риск галлюцинаций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5767388"/>
            <a:ext cx="3506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88889" y="5729288"/>
            <a:ext cx="617360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генерации и влияние длины prompt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72600" y="5767388"/>
            <a:ext cx="3506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18489" y="5729288"/>
            <a:ext cx="643397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Продуктовые вопросы по зарплатному проекту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8612505"/>
            <a:ext cx="16002000" cy="931545"/>
          </a:xfrm>
          <a:prstGeom prst="roundRect">
            <a:avLst>
              <a:gd name="adj" fmla="val 18405"/>
            </a:avLst>
          </a:prstGeom>
          <a:solidFill>
            <a:srgbClr val="004566"/>
          </a:solidFill>
          <a:ln/>
        </p:spPr>
      </p:sp>
      <p:sp>
        <p:nvSpPr>
          <p:cNvPr id="17" name="Text 15"/>
          <p:cNvSpPr/>
          <p:nvPr/>
        </p:nvSpPr>
        <p:spPr>
          <a:xfrm>
            <a:off x="1504950" y="8941118"/>
            <a:ext cx="1384602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30379" y="8898255"/>
            <a:ext cx="13701951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Отделять </a:t>
            </a:r>
            <a:r>
              <a:rPr lang="en-US" sz="2100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prompt-side </a:t>
            </a:r>
            <a:r>
              <a:rPr lang="en-US" sz="21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дефекты от проблем </a:t>
            </a:r>
            <a:r>
              <a:rPr lang="en-US" sz="2100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GigaVoice / VAD </a:t>
            </a:r>
            <a:r>
              <a:rPr lang="en-US" sz="2100" dirty="0">
                <a:solidFill>
                  <a:srgbClr val="EA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иначе дефект уходит не той команде.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РИСКИ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управляем сознательно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4110"/>
            <a:ext cx="7886700" cy="3455670"/>
          </a:xfrm>
          <a:prstGeom prst="roundRect">
            <a:avLst>
              <a:gd name="adj" fmla="val 5513"/>
            </a:avLst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70891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Клиентский опыт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85900" y="3318510"/>
            <a:ext cx="7416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 при жалобе · игнор просьбы оператора · неестественный или медленный голос · инвазивная персонализация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58300" y="2404110"/>
            <a:ext cx="7886700" cy="3455670"/>
          </a:xfrm>
          <a:prstGeom prst="roundRect">
            <a:avLst>
              <a:gd name="adj" fmla="val 5513"/>
            </a:avLst>
          </a:prstGeom>
          <a:solidFill>
            <a:srgbClr val="F1F7F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0891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0" y="3318510"/>
            <a:ext cx="7416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Пустые комментарии КМ · устаревшие витринные признаки · узкий golden set · неполные продуктовые факты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6088380"/>
            <a:ext cx="7886700" cy="3455670"/>
          </a:xfrm>
          <a:prstGeom prst="roundRect">
            <a:avLst>
              <a:gd name="adj" fmla="val 5513"/>
            </a:avLst>
          </a:prstGeom>
          <a:solidFill>
            <a:srgbClr val="F1F7F8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639318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85900" y="7002780"/>
            <a:ext cx="7416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утверждён API оркестратора · открытые tool-контракты · SkillFlow как временный интерфейс · Q3 без ресурсной разбивки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58300" y="6088380"/>
            <a:ext cx="7886700" cy="3455670"/>
          </a:xfrm>
          <a:prstGeom prst="roundRect">
            <a:avLst>
              <a:gd name="adj" fmla="val 5513"/>
            </a:avLst>
          </a:prstGeom>
          <a:solidFill>
            <a:srgbClr val="F1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6393180"/>
            <a:ext cx="79209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AI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01200" y="7002780"/>
            <a:ext cx="7416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 порядка этапов · выдуманные условия · отказ путается с сомнением · judge расходится с человеком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И ФОКУС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декомпозиция, а не гарантированные даты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423160"/>
            <a:ext cx="544266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BB4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Уже сформировано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758440"/>
            <a:ext cx="544266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Видение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3444240"/>
            <a:ext cx="544266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Узкие сценарии с заделом на расширение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905250"/>
            <a:ext cx="5096317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Минимум: оркестратор, персонализация, итоги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674870"/>
            <a:ext cx="544266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Версии prompt / config и тестовые корзины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5135880"/>
            <a:ext cx="544266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SkillFlow — не единственная опора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7581" y="2423160"/>
            <a:ext cx="9525" cy="7120890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1" name="Shape 9"/>
          <p:cNvSpPr/>
          <p:nvPr/>
        </p:nvSpPr>
        <p:spPr>
          <a:xfrm>
            <a:off x="11922800" y="2423160"/>
            <a:ext cx="9525" cy="7120890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0000" y="2423160"/>
            <a:ext cx="5442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F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Ближайший период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0000" y="2758440"/>
            <a:ext cx="544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70000" y="3444240"/>
            <a:ext cx="5442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Надёжные прогоны B2B prompt на golden set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0000" y="3905250"/>
            <a:ext cx="5442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Отделить GigaVoice / VAD от prompt-side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0000" y="4366260"/>
            <a:ext cx="5442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консьерж после фикса Фокуса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0000" y="4827270"/>
            <a:ext cx="5442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Декомпозировать Q3 в 12–15 задач + ресурсы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97119" y="2423160"/>
            <a:ext cx="544266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BB4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После MVP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97119" y="2758440"/>
            <a:ext cx="544266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197119" y="3444240"/>
            <a:ext cx="544266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Эквайринг и кредитование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97119" y="3905250"/>
            <a:ext cx="544266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Сервисные сценарии с SMS и задачей КМ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197119" y="4366260"/>
            <a:ext cx="544266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Входящий поток и чат-перехват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97119" y="4827270"/>
            <a:ext cx="544266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F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Альтернатива зависимости от SkillFlow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76300"/>
            <a:ext cx="176022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00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ДИСКУССИИ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67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вопросы для руководства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4532471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005739"/>
            <a:ext cx="37349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06999" y="3899059"/>
            <a:ext cx="10664524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считать достаточным MVP / PoC к концу третьего квартала?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5402104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875371"/>
            <a:ext cx="37349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06999" y="4768691"/>
            <a:ext cx="11869698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сценарии входят в обязательный Q3-scope, а какие — развитие?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143000" y="6271736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745004"/>
            <a:ext cx="37349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06999" y="5638324"/>
            <a:ext cx="13554743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интеграции реально доступны: SMS, SberScan, Sales Operations, витрины?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7141369"/>
            <a:ext cx="16002000" cy="9525"/>
          </a:xfrm>
          <a:prstGeom prst="rect">
            <a:avLst/>
          </a:prstGeom>
          <a:solidFill>
            <a:srgbClr val="DCE8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614636"/>
            <a:ext cx="37349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06999" y="6507956"/>
            <a:ext cx="10796933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API оркестратора согласуется с IVR / МИО и смежниками?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43000" y="7484269"/>
            <a:ext cx="37349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B6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706999" y="7377589"/>
            <a:ext cx="13960483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004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владеет финансовой методикой эффекта и какие выгрузки — источник истины?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876300"/>
            <a:ext cx="438150" cy="438150"/>
          </a:xfrm>
          <a:prstGeom prst="roundRect">
            <a:avLst>
              <a:gd name="adj" fmla="val 28261"/>
            </a:avLst>
          </a:prstGeom>
          <a:gradFill rotWithShape="1">
            <a:gsLst>
              <a:gs pos="0">
                <a:srgbClr val="0A9DFF">
                  <a:alpha val="100000"/>
                </a:srgbClr>
              </a:gs>
              <a:gs pos="45000">
                <a:srgbClr val="00B6A4">
                  <a:alpha val="100000"/>
                </a:srgbClr>
              </a:gs>
              <a:gs pos="100000">
                <a:srgbClr val="8FD400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733550" y="969645"/>
            <a:ext cx="59674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ЦКМ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143000" y="2378392"/>
            <a:ext cx="15506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347" dirty="0">
                <a:solidFill>
                  <a:srgbClr val="7F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PITCH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143000" y="2907983"/>
            <a:ext cx="14519910" cy="3297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350" b="1" kern="0" spc="-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Управляемый AI-агент, который берёт на себя повторяемые клиентские коммуникации, использует безопасный контекст и возвращает структурированный результат в банковский контур.</a:t>
            </a:r>
            <a:endParaRPr lang="en-US" sz="4350" dirty="0"/>
          </a:p>
        </p:txBody>
      </p:sp>
      <p:sp>
        <p:nvSpPr>
          <p:cNvPr id="7" name="Text 4"/>
          <p:cNvSpPr/>
          <p:nvPr/>
        </p:nvSpPr>
        <p:spPr>
          <a:xfrm>
            <a:off x="1143000" y="6548318"/>
            <a:ext cx="11576685" cy="1398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исходящего B2B-звонка по зарплатному проекту — и строим с заделом на </a:t>
            </a:r>
            <a:r>
              <a:rPr lang="en-US" sz="2550" dirty="0" err="1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сервисные</a:t>
            </a:r>
            <a:r>
              <a:rPr lang="en-US" sz="25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сценарии, входящий поток и новые продукты.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1878</Words>
  <Application>Microsoft Office PowerPoint</Application>
  <PresentationFormat>Произвольный</PresentationFormat>
  <Paragraphs>296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Dmitry Akimov</cp:lastModifiedBy>
  <cp:revision>2</cp:revision>
  <dcterms:created xsi:type="dcterms:W3CDTF">2026-06-17T11:31:08Z</dcterms:created>
  <dcterms:modified xsi:type="dcterms:W3CDTF">2026-06-17T11:55:55Z</dcterms:modified>
</cp:coreProperties>
</file>